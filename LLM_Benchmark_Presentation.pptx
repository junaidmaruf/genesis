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a83f64-d223-7c22-34af-87c64811232a}">
          <p14:sldIdLst>
            <p14:sldId id="256"/>
          </p14:sldIdLst>
        </p14:section>
        <p14:section name="Context" id="{19e1d008-7fd6-c8f7-83b5-b91345cfb353}">
          <p14:sldIdLst>
            <p14:sldId id="257"/>
          </p14:sldIdLst>
        </p14:section>
        <p14:section name="Setup" id="{c4e3ab0e-e09e-67c8-790b-fc2446cc3c31}">
          <p14:sldIdLst>
            <p14:sldId id="258"/>
            <p14:sldId id="259"/>
            <p14:sldId id="260"/>
            <p14:sldId id="261"/>
          </p14:sldIdLst>
        </p14:section>
        <p14:section name="Setup" id="{ecd34da4-7542-661d-7a3d-adc18256f202}">
          <p14:sldIdLst/>
        </p14:section>
        <p14:section name="Setup" id="{ee7fc967-f1c0-09ad-ac9d-7e1dcf6a34d4}">
          <p14:sldIdLst/>
        </p14:section>
        <p14:section name="Setup" id="{659be6f5-dd53-51f7-e932-7296a2cdd482}">
          <p14:sldIdLst/>
        </p14:section>
        <p14:section name="Results" id="{0dfc4f7a-ae26-0334-ee68-5c8a5fc6bd04}">
          <p14:sldIdLst>
            <p14:sldId id="262"/>
            <p14:sldId id="263"/>
            <p14:sldId id="264"/>
            <p14:sldId id="265"/>
          </p14:sldIdLst>
        </p14:section>
        <p14:section name="Results" id="{ed7611c7-3dad-bfd4-d9fe-3fc33cc2758b}">
          <p14:sldIdLst/>
        </p14:section>
        <p14:section name="Results" id="{bc7f2b1f-10c8-b602-76a2-a1b7eb68545f}">
          <p14:sldIdLst/>
        </p14:section>
        <p14:section name="Results" id="{110f377c-6044-f802-8c70-9919a5b87e9e}">
          <p14:sldIdLst/>
        </p14:section>
        <p14:section name="Takeaways" id="{c8a2a49a-b4c5-5716-bd0c-2e6fd5d2caa0}">
          <p14:sldIdLst>
            <p14:sldId id="266"/>
            <p14:sldId id="267"/>
          </p14:sldIdLst>
        </p14:section>
        <p14:section name="Takeaways" id="{ffbe2b5e-5a35-bbf8-8ed9-8e038bcbdc1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Prompts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72B6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ACC15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4D399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B7185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818CF8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F97316"/>
              </a:solidFill>
              <a:ln w="25400" cap="flat">
                <a:solidFill>
                  <a:srgbClr val="0B143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43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Reasoning &amp; Maths</c:v>
                </c:pt>
                <c:pt idx="1">
                  <c:v>Factual Accuracy</c:v>
                </c:pt>
                <c:pt idx="2">
                  <c:v>Instruction Following</c:v>
                </c:pt>
                <c:pt idx="3">
                  <c:v>Coding</c:v>
                </c:pt>
                <c:pt idx="4">
                  <c:v>Indian Languages</c:v>
                </c:pt>
                <c:pt idx="5">
                  <c:v>Summarisation</c:v>
                </c:pt>
                <c:pt idx="6">
                  <c:v>Safety &amp; Robustness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average</c:v>
                </c:pt>
              </c:strCache>
            </c:strRef>
          </c:tx>
          <c:spPr>
            <a:solidFill>
              <a:srgbClr val="4F8C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C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Gemma-4-31B</c:v>
                  </c:pt>
                  <c:pt idx="1">
                    <c:v>Qwen-2.5-72B</c:v>
                  </c:pt>
                  <c:pt idx="2">
                    <c:v>Gemma-4-26B</c:v>
                  </c:pt>
                  <c:pt idx="3">
                    <c:v>GPT OSS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4.43</c:v>
                </c:pt>
                <c:pt idx="1">
                  <c:v>4.13</c:v>
                </c:pt>
                <c:pt idx="2">
                  <c:v>4.09</c:v>
                </c:pt>
                <c:pt idx="3">
                  <c:v>4.07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Gemma-4-31B</c:v>
                </c:pt>
              </c:strCache>
            </c:strRef>
          </c:tx>
          <c:spPr>
            <a:solidFill>
              <a:srgbClr val="4F8CFF"/>
            </a:solidFill>
            <a:ln w="25400" cap="flat">
              <a:solidFill>
                <a:srgbClr val="4F8C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4F8CFF"/>
              </a:solidFill>
              <a:ln w="9525" cap="flat">
                <a:solidFill>
                  <a:srgbClr val="4F8C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Reasoning</c:v>
                  </c:pt>
                  <c:pt idx="1">
                    <c:v>Factual</c:v>
                  </c:pt>
                  <c:pt idx="2">
                    <c:v>Instruct.</c:v>
                  </c:pt>
                  <c:pt idx="3">
                    <c:v>Coding</c:v>
                  </c:pt>
                  <c:pt idx="4">
                    <c:v>Indian Lang.</c:v>
                  </c:pt>
                  <c:pt idx="5">
                    <c:v>Summary</c:v>
                  </c:pt>
                  <c:pt idx="6">
                    <c:v>Safety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4.5</c:v>
                </c:pt>
                <c:pt idx="1">
                  <c:v>4.2</c:v>
                </c:pt>
                <c:pt idx="2">
                  <c:v>4.6</c:v>
                </c:pt>
                <c:pt idx="3">
                  <c:v>4.3</c:v>
                </c:pt>
                <c:pt idx="4">
                  <c:v>4.4</c:v>
                </c:pt>
                <c:pt idx="5">
                  <c:v>4.5</c:v>
                </c:pt>
                <c:pt idx="6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Gemma-4-26B</c:v>
                </c:pt>
              </c:strCache>
            </c:strRef>
          </c:tx>
          <c:spPr>
            <a:solidFill>
              <a:srgbClr val="2DD4BF"/>
            </a:solidFill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Reasoning</c:v>
                  </c:pt>
                  <c:pt idx="1">
                    <c:v>Factual</c:v>
                  </c:pt>
                  <c:pt idx="2">
                    <c:v>Instruct.</c:v>
                  </c:pt>
                  <c:pt idx="3">
                    <c:v>Coding</c:v>
                  </c:pt>
                  <c:pt idx="4">
                    <c:v>Indian Lang.</c:v>
                  </c:pt>
                  <c:pt idx="5">
                    <c:v>Summary</c:v>
                  </c:pt>
                  <c:pt idx="6">
                    <c:v>Safety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3.9</c:v>
                </c:pt>
                <c:pt idx="2">
                  <c:v>4.3</c:v>
                </c:pt>
                <c:pt idx="3">
                  <c:v>3.9</c:v>
                </c:pt>
                <c:pt idx="4">
                  <c:v>4</c:v>
                </c:pt>
                <c:pt idx="5">
                  <c:v>4.2</c:v>
                </c:pt>
                <c:pt idx="6">
                  <c:v>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Qwen-2.5-72B</c:v>
                </c:pt>
              </c:strCache>
            </c:strRef>
          </c:tx>
          <c:spPr>
            <a:solidFill>
              <a:srgbClr val="FB923C"/>
            </a:solidFill>
            <a:ln w="25400" cap="flat">
              <a:solidFill>
                <a:srgbClr val="FB923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B923C"/>
              </a:solidFill>
              <a:ln w="9525" cap="flat">
                <a:solidFill>
                  <a:srgbClr val="FB9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Reasoning</c:v>
                  </c:pt>
                  <c:pt idx="1">
                    <c:v>Factual</c:v>
                  </c:pt>
                  <c:pt idx="2">
                    <c:v>Instruct.</c:v>
                  </c:pt>
                  <c:pt idx="3">
                    <c:v>Coding</c:v>
                  </c:pt>
                  <c:pt idx="4">
                    <c:v>Indian Lang.</c:v>
                  </c:pt>
                  <c:pt idx="5">
                    <c:v>Summary</c:v>
                  </c:pt>
                  <c:pt idx="6">
                    <c:v>Safety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4.2</c:v>
                </c:pt>
                <c:pt idx="1">
                  <c:v>4.3</c:v>
                </c:pt>
                <c:pt idx="2">
                  <c:v>4.2</c:v>
                </c:pt>
                <c:pt idx="3">
                  <c:v>4.5</c:v>
                </c:pt>
                <c:pt idx="4">
                  <c:v>3.6</c:v>
                </c:pt>
                <c:pt idx="5">
                  <c:v>4.3</c:v>
                </c:pt>
                <c:pt idx="6">
                  <c:v>3.8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GPT OSS</c:v>
                </c:pt>
              </c:strCache>
            </c:strRef>
          </c:tx>
          <c:spPr>
            <a:solidFill>
              <a:srgbClr val="A78BFA"/>
            </a:solidFill>
            <a:ln w="25400" cap="flat">
              <a:solidFill>
                <a:srgbClr val="A78BF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Reasoning</c:v>
                  </c:pt>
                  <c:pt idx="1">
                    <c:v>Factual</c:v>
                  </c:pt>
                  <c:pt idx="2">
                    <c:v>Instruct.</c:v>
                  </c:pt>
                  <c:pt idx="3">
                    <c:v>Coding</c:v>
                  </c:pt>
                  <c:pt idx="4">
                    <c:v>Indian Lang.</c:v>
                  </c:pt>
                  <c:pt idx="5">
                    <c:v>Summary</c:v>
                  </c:pt>
                  <c:pt idx="6">
                    <c:v>Safety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4.6</c:v>
                </c:pt>
                <c:pt idx="1">
                  <c:v>3.8</c:v>
                </c:pt>
                <c:pt idx="2">
                  <c:v>4.4</c:v>
                </c:pt>
                <c:pt idx="3">
                  <c:v>4.4</c:v>
                </c:pt>
                <c:pt idx="4">
                  <c:v>3.3</c:v>
                </c:pt>
                <c:pt idx="5">
                  <c:v>4.1</c:v>
                </c:pt>
                <c:pt idx="6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9525" cap="flat">
              <a:solidFill>
                <a:srgbClr val="3B4A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9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We benchmarked four open models on 25 hand-written prompts across seven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many open models, public benchmarks miss real use, and Indian languages are rarely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Gemma-4 variants, Qwen-2.5 as the largest dense model, and GPT OSS as the open-weight challenger.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custom, hand-written prompts. Reasoning, factual, instruction following and Indian languages have 4 each; the rest have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prompts and settings for every model, scored on a 1 to 5 rubric, averaged per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response was rated on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average is the mean of the seven category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is strong, red is weak. Each row shows a model's strengths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radar axis starts at 3 so differences are easier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Gemma-4-31B wins four categories; Qwen leads factual and coding; GPT OSS leads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quick decision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25 prompts is a small sample. Close with the one-line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blue"/>
          <p:cNvSpPr/>
          <p:nvPr/>
        </p:nvSpPr>
        <p:spPr>
          <a:xfrm>
            <a:off x="5394960" y="-1097280"/>
            <a:ext cx="4206240" cy="4206240"/>
          </a:xfrm>
          <a:prstGeom prst="ellipse">
            <a:avLst/>
          </a:prstGeom>
          <a:solidFill>
            <a:srgbClr val="4F8CFF">
              <a:alpha val="18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Deco purple"/>
          <p:cNvSpPr/>
          <p:nvPr/>
        </p:nvSpPr>
        <p:spPr>
          <a:xfrm>
            <a:off x="6766560" y="3017520"/>
            <a:ext cx="3291840" cy="329184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Deco orange"/>
          <p:cNvSpPr/>
          <p:nvPr/>
        </p:nvSpPr>
        <p:spPr>
          <a:xfrm>
            <a:off x="4206240" y="4023360"/>
            <a:ext cx="2011680" cy="2011680"/>
          </a:xfrm>
          <a:prstGeom prst="ellipse">
            <a:avLst/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 ·  LLM EVALUATION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143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LLM Showdown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 vs Qwen-2.5 vs GPT OSS across reasoning, code, safety and Indian languages</a:t>
            </a:r>
            <a:endParaRPr lang="en-US" sz="1800" dirty="0"/>
          </a:p>
        </p:txBody>
      </p:sp>
      <p:sp>
        <p:nvSpPr>
          <p:cNvPr id="9" name="Chip Gemma-4-31B"/>
          <p:cNvSpPr/>
          <p:nvPr/>
        </p:nvSpPr>
        <p:spPr>
          <a:xfrm>
            <a:off x="548640" y="3383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Gemma-4-31B-it</a:t>
            </a:r>
            <a:endParaRPr lang="en-US" sz="1300" dirty="0"/>
          </a:p>
        </p:txBody>
      </p:sp>
      <p:sp>
        <p:nvSpPr>
          <p:cNvPr id="11" name="Chip Gemma-4-26B"/>
          <p:cNvSpPr/>
          <p:nvPr/>
        </p:nvSpPr>
        <p:spPr>
          <a:xfrm>
            <a:off x="3017520" y="3383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Gemma-4-26B-a4b-it</a:t>
            </a:r>
            <a:endParaRPr lang="en-US" sz="1300" dirty="0"/>
          </a:p>
        </p:txBody>
      </p:sp>
      <p:sp>
        <p:nvSpPr>
          <p:cNvPr id="13" name="Chip Qwen-2.5-72B"/>
          <p:cNvSpPr/>
          <p:nvPr/>
        </p:nvSpPr>
        <p:spPr>
          <a:xfrm>
            <a:off x="548640" y="3886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Qwen-2.5-72B-Instruct</a:t>
            </a:r>
            <a:endParaRPr lang="en-US" sz="1300" dirty="0"/>
          </a:p>
        </p:txBody>
      </p:sp>
      <p:sp>
        <p:nvSpPr>
          <p:cNvPr id="15" name="Chip GPT OSS"/>
          <p:cNvSpPr/>
          <p:nvPr/>
        </p:nvSpPr>
        <p:spPr>
          <a:xfrm>
            <a:off x="3017520" y="3886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1752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OSS</a:t>
            </a:r>
            <a:endParaRPr lang="en-US" sz="1300" dirty="0"/>
          </a:p>
        </p:txBody>
      </p:sp>
      <p:sp>
        <p:nvSpPr>
          <p:cNvPr id="17" name="Stat Models"/>
          <p:cNvSpPr/>
          <p:nvPr/>
        </p:nvSpPr>
        <p:spPr>
          <a:xfrm>
            <a:off x="6309360" y="7315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8229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8229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20" name="Stat Categories"/>
          <p:cNvSpPr/>
          <p:nvPr/>
        </p:nvSpPr>
        <p:spPr>
          <a:xfrm>
            <a:off x="6309360" y="21031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92240" y="21945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21945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23" name="Stat Prompts"/>
          <p:cNvSpPr/>
          <p:nvPr/>
        </p:nvSpPr>
        <p:spPr>
          <a:xfrm>
            <a:off x="6309360" y="3474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35661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8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35661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ran this benchmark</a:t>
            </a:r>
            <a:endParaRPr lang="en-US" sz="3000" dirty="0"/>
          </a:p>
        </p:txBody>
      </p:sp>
      <p:sp>
        <p:nvSpPr>
          <p:cNvPr id="4" name="Why card 1"/>
          <p:cNvSpPr/>
          <p:nvPr/>
        </p:nvSpPr>
        <p:spPr>
          <a:xfrm>
            <a:off x="457200" y="123444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Too many choices circle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6" name="Image 0" descr="Too many cho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choices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open models are available, and picking one is hard.</a:t>
            </a:r>
            <a:endParaRPr lang="en-US" sz="1400" dirty="0"/>
          </a:p>
        </p:txBody>
      </p:sp>
      <p:sp>
        <p:nvSpPr>
          <p:cNvPr id="9" name="Why card 2"/>
          <p:cNvSpPr/>
          <p:nvPr/>
        </p:nvSpPr>
        <p:spPr>
          <a:xfrm>
            <a:off x="3291840" y="123444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0" name="Benchmarks fall short circle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1" name="Image 1" descr="Benchmarks fall sh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6459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fall short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leaderboards rarely reflect everyday, task-style prompts.</a:t>
            </a:r>
            <a:endParaRPr lang="en-US" sz="1400" dirty="0"/>
          </a:p>
        </p:txBody>
      </p:sp>
      <p:sp>
        <p:nvSpPr>
          <p:cNvPr id="14" name="Why card 3"/>
          <p:cNvSpPr/>
          <p:nvPr/>
        </p:nvSpPr>
        <p:spPr>
          <a:xfrm>
            <a:off x="6126480" y="123444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5" name="India needs more circle"/>
          <p:cNvSpPr/>
          <p:nvPr/>
        </p:nvSpPr>
        <p:spPr>
          <a:xfrm>
            <a:off x="6355080" y="146304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6" name="Image 2" descr="India needs m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459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needs more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35508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other Indian languages are rarely tested properly.</a:t>
            </a:r>
            <a:endParaRPr lang="en-US" sz="1400" dirty="0"/>
          </a:p>
        </p:txBody>
      </p:sp>
      <p:sp>
        <p:nvSpPr>
          <p:cNvPr id="19" name="Goal banner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0E3A5C"/>
          </a:solidFill>
          <a:ln w="12700">
            <a:solidFill>
              <a:srgbClr val="0E3A5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help builders choose the right model for the right job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one test suite</a:t>
            </a:r>
            <a:endParaRPr lang="en-US" sz="3000" dirty="0"/>
          </a:p>
        </p:txBody>
      </p:sp>
      <p:sp>
        <p:nvSpPr>
          <p:cNvPr id="4" name="Model card Gemma-4-31B"/>
          <p:cNvSpPr/>
          <p:nvPr/>
        </p:nvSpPr>
        <p:spPr>
          <a:xfrm>
            <a:off x="457200" y="123444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Model pill Gemma-4-31B"/>
          <p:cNvSpPr/>
          <p:nvPr/>
        </p:nvSpPr>
        <p:spPr>
          <a:xfrm>
            <a:off x="594360" y="13716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31B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instruction-tuned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all-rounder</a:t>
            </a:r>
            <a:endParaRPr lang="en-US" sz="1300" dirty="0"/>
          </a:p>
        </p:txBody>
      </p:sp>
      <p:sp>
        <p:nvSpPr>
          <p:cNvPr id="11" name="Model card Gemma-4-26B"/>
          <p:cNvSpPr/>
          <p:nvPr/>
        </p:nvSpPr>
        <p:spPr>
          <a:xfrm>
            <a:off x="2560320" y="123444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2" name="Model pill Gemma-4-26B"/>
          <p:cNvSpPr/>
          <p:nvPr/>
        </p:nvSpPr>
        <p:spPr>
          <a:xfrm>
            <a:off x="2697480" y="13716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974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Gemma-4-26B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~4B active params (MoE-style)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6974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efficient to run</a:t>
            </a:r>
            <a:endParaRPr lang="en-US" sz="1300" dirty="0"/>
          </a:p>
        </p:txBody>
      </p:sp>
      <p:sp>
        <p:nvSpPr>
          <p:cNvPr id="18" name="Model card Qwen-2.5-72B"/>
          <p:cNvSpPr/>
          <p:nvPr/>
        </p:nvSpPr>
        <p:spPr>
          <a:xfrm>
            <a:off x="4663440" y="123444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9" name="Model pill Qwen-2.5-72B"/>
          <p:cNvSpPr/>
          <p:nvPr/>
        </p:nvSpPr>
        <p:spPr>
          <a:xfrm>
            <a:off x="4800600" y="13716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72B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instruction-tuned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8006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Alibaba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model tested</a:t>
            </a:r>
            <a:endParaRPr lang="en-US" sz="1300" dirty="0"/>
          </a:p>
        </p:txBody>
      </p:sp>
      <p:sp>
        <p:nvSpPr>
          <p:cNvPr id="25" name="Model card GPT OSS"/>
          <p:cNvSpPr/>
          <p:nvPr/>
        </p:nvSpPr>
        <p:spPr>
          <a:xfrm>
            <a:off x="6766560" y="123444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6" name="Model pill GPT OSS"/>
          <p:cNvSpPr/>
          <p:nvPr/>
        </p:nvSpPr>
        <p:spPr>
          <a:xfrm>
            <a:off x="6903720" y="13716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03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OSS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4800" dirty="0"/>
          </a:p>
        </p:txBody>
      </p:sp>
      <p:sp>
        <p:nvSpPr>
          <p:cNvPr id="29" name="Text 26"/>
          <p:cNvSpPr txBox="1"/>
          <p:nvPr/>
        </p:nvSpPr>
        <p:spPr>
          <a:xfrm>
            <a:off x="690372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reasoning model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Reasoning-focused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prompts across 7 categories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164592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164592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7" name="Category row 1"/>
          <p:cNvSpPr/>
          <p:nvPr/>
        </p:nvSpPr>
        <p:spPr>
          <a:xfrm>
            <a:off x="4572000" y="1188720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8" name="Dot 1"/>
          <p:cNvSpPr/>
          <p:nvPr/>
        </p:nvSpPr>
        <p:spPr>
          <a:xfrm>
            <a:off x="4709160" y="1298448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74920" y="11887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Maths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11887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Category row 2"/>
          <p:cNvSpPr/>
          <p:nvPr/>
        </p:nvSpPr>
        <p:spPr>
          <a:xfrm>
            <a:off x="4572000" y="1682496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2" name="Dot 2"/>
          <p:cNvSpPr/>
          <p:nvPr/>
        </p:nvSpPr>
        <p:spPr>
          <a:xfrm>
            <a:off x="4709160" y="1792224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74920" y="16824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168249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Category row 3"/>
          <p:cNvSpPr/>
          <p:nvPr/>
        </p:nvSpPr>
        <p:spPr>
          <a:xfrm>
            <a:off x="4572000" y="2176272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6" name="Dot 3"/>
          <p:cNvSpPr/>
          <p:nvPr/>
        </p:nvSpPr>
        <p:spPr>
          <a:xfrm>
            <a:off x="4709160" y="2286000"/>
            <a:ext cx="201168" cy="20116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74920" y="21762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21762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Category row 4"/>
          <p:cNvSpPr/>
          <p:nvPr/>
        </p:nvSpPr>
        <p:spPr>
          <a:xfrm>
            <a:off x="4572000" y="2670048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0" name="Dot 4"/>
          <p:cNvSpPr/>
          <p:nvPr/>
        </p:nvSpPr>
        <p:spPr>
          <a:xfrm>
            <a:off x="4709160" y="2779776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74920" y="26700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046720" y="267004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Category row 5"/>
          <p:cNvSpPr/>
          <p:nvPr/>
        </p:nvSpPr>
        <p:spPr>
          <a:xfrm>
            <a:off x="4572000" y="3163824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4" name="Dot 5"/>
          <p:cNvSpPr/>
          <p:nvPr/>
        </p:nvSpPr>
        <p:spPr>
          <a:xfrm>
            <a:off x="4709160" y="3273552"/>
            <a:ext cx="201168" cy="20116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074920" y="31638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8046720" y="316382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Category row 6"/>
          <p:cNvSpPr/>
          <p:nvPr/>
        </p:nvSpPr>
        <p:spPr>
          <a:xfrm>
            <a:off x="4572000" y="3657600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8" name="Dot 6"/>
          <p:cNvSpPr/>
          <p:nvPr/>
        </p:nvSpPr>
        <p:spPr>
          <a:xfrm>
            <a:off x="4709160" y="3767328"/>
            <a:ext cx="201168" cy="20116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074920" y="3657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8046720" y="365760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Category row 7"/>
          <p:cNvSpPr/>
          <p:nvPr/>
        </p:nvSpPr>
        <p:spPr>
          <a:xfrm>
            <a:off x="4572000" y="4151376"/>
            <a:ext cx="4114800" cy="420624"/>
          </a:xfrm>
          <a:prstGeom prst="roundRect">
            <a:avLst>
              <a:gd name="adj" fmla="val 2608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32" name="Dot 7"/>
          <p:cNvSpPr/>
          <p:nvPr/>
        </p:nvSpPr>
        <p:spPr>
          <a:xfrm>
            <a:off x="4709160" y="426110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074920" y="41513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Robustness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8046720" y="41513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457200" y="123444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25 Prompts circle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25 Promp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5316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Prompts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1200" dirty="0"/>
          </a:p>
        </p:txBody>
      </p:sp>
      <p:sp>
        <p:nvSpPr>
          <p:cNvPr id="9" name="Arrow 1"/>
          <p:cNvSpPr/>
          <p:nvPr/>
        </p:nvSpPr>
        <p:spPr>
          <a:xfrm>
            <a:off x="1901952" y="1920240"/>
            <a:ext cx="256032" cy="27432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tep card 2"/>
          <p:cNvSpPr/>
          <p:nvPr/>
        </p:nvSpPr>
        <p:spPr>
          <a:xfrm>
            <a:off x="2171700" y="123444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1" name="4 Models circle"/>
          <p:cNvSpPr/>
          <p:nvPr/>
        </p:nvSpPr>
        <p:spPr>
          <a:xfrm>
            <a:off x="2537460" y="1371600"/>
            <a:ext cx="640080" cy="64008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12" name="Image 1" descr="4 Mode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316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1742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21742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settings</a:t>
            </a:r>
            <a:endParaRPr lang="en-US" sz="1200" dirty="0"/>
          </a:p>
        </p:txBody>
      </p:sp>
      <p:sp>
        <p:nvSpPr>
          <p:cNvPr id="15" name="Arrow 2"/>
          <p:cNvSpPr/>
          <p:nvPr/>
        </p:nvSpPr>
        <p:spPr>
          <a:xfrm>
            <a:off x="3616452" y="1920240"/>
            <a:ext cx="256032" cy="27432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tep card 3"/>
          <p:cNvSpPr/>
          <p:nvPr/>
        </p:nvSpPr>
        <p:spPr>
          <a:xfrm>
            <a:off x="3886200" y="123444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7" name="Responses circle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2" descr="Respon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5316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93192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93192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21" name="Arrow 3"/>
          <p:cNvSpPr/>
          <p:nvPr/>
        </p:nvSpPr>
        <p:spPr>
          <a:xfrm>
            <a:off x="5330952" y="1920240"/>
            <a:ext cx="256032" cy="27432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tep card 4"/>
          <p:cNvSpPr/>
          <p:nvPr/>
        </p:nvSpPr>
        <p:spPr>
          <a:xfrm>
            <a:off x="5600700" y="123444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3" name="1–5 Scoring circle"/>
          <p:cNvSpPr/>
          <p:nvPr/>
        </p:nvSpPr>
        <p:spPr>
          <a:xfrm>
            <a:off x="5966460" y="1371600"/>
            <a:ext cx="640080" cy="64008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24" name="Image 3" descr="1–5 Sco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3162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4642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Scoring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64642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rubric-based</a:t>
            </a:r>
            <a:endParaRPr lang="en-US" sz="1200" dirty="0"/>
          </a:p>
        </p:txBody>
      </p:sp>
      <p:sp>
        <p:nvSpPr>
          <p:cNvPr id="27" name="Arrow 4"/>
          <p:cNvSpPr/>
          <p:nvPr/>
        </p:nvSpPr>
        <p:spPr>
          <a:xfrm>
            <a:off x="7045452" y="1920240"/>
            <a:ext cx="256032" cy="27432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Step card 5"/>
          <p:cNvSpPr/>
          <p:nvPr/>
        </p:nvSpPr>
        <p:spPr>
          <a:xfrm>
            <a:off x="7315200" y="123444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9" name="Analysis circle"/>
          <p:cNvSpPr/>
          <p:nvPr/>
        </p:nvSpPr>
        <p:spPr>
          <a:xfrm>
            <a:off x="7680960" y="1371600"/>
            <a:ext cx="640080" cy="6400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0" name="Image 4" descr="Analysi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15316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6092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36092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+ radar</a:t>
            </a:r>
            <a:endParaRPr lang="en-US" sz="1200" dirty="0"/>
          </a:p>
        </p:txBody>
      </p:sp>
      <p:sp>
        <p:nvSpPr>
          <p:cNvPr id="33" name="Fact card 1"/>
          <p:cNvSpPr/>
          <p:nvPr/>
        </p:nvSpPr>
        <p:spPr>
          <a:xfrm>
            <a:off x="457200" y="32918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00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setup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prompts and settings for all four models</a:t>
            </a:r>
            <a:endParaRPr lang="en-US" sz="1400" dirty="0"/>
          </a:p>
        </p:txBody>
      </p:sp>
      <p:sp>
        <p:nvSpPr>
          <p:cNvPr id="36" name="Fact card 2"/>
          <p:cNvSpPr/>
          <p:nvPr/>
        </p:nvSpPr>
        <p:spPr>
          <a:xfrm>
            <a:off x="3291840" y="32918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prompts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34747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Hand-written, not copied from public benchmarks</a:t>
            </a:r>
            <a:endParaRPr lang="en-US" sz="1400" dirty="0"/>
          </a:p>
        </p:txBody>
      </p:sp>
      <p:sp>
        <p:nvSpPr>
          <p:cNvPr id="39" name="Fact card 3"/>
          <p:cNvSpPr/>
          <p:nvPr/>
        </p:nvSpPr>
        <p:spPr>
          <a:xfrm>
            <a:off x="6126480" y="32918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3093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maths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630936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 = average of its prompt scores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1–5 scoring rubric</a:t>
            </a:r>
            <a:endParaRPr lang="en-US" sz="3000" dirty="0"/>
          </a:p>
        </p:txBody>
      </p:sp>
      <p:sp>
        <p:nvSpPr>
          <p:cNvPr id="4" name="Rubric row 5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Score dot 5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18872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18872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correct, complete, well-structured, no safety issues</a:t>
            </a:r>
            <a:endParaRPr lang="en-US" sz="1400" dirty="0"/>
          </a:p>
        </p:txBody>
      </p:sp>
      <p:sp>
        <p:nvSpPr>
          <p:cNvPr id="9" name="Rubric row 4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0" name="Score dot 4"/>
          <p:cNvSpPr/>
          <p:nvPr/>
        </p:nvSpPr>
        <p:spPr>
          <a:xfrm>
            <a:off x="594360" y="1929384"/>
            <a:ext cx="457200" cy="45720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86537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865376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correct, with minor omissions or style flaws</a:t>
            </a:r>
            <a:endParaRPr lang="en-US" sz="1400" dirty="0"/>
          </a:p>
        </p:txBody>
      </p:sp>
      <p:sp>
        <p:nvSpPr>
          <p:cNvPr id="14" name="Rubric row 3"/>
          <p:cNvSpPr/>
          <p:nvPr/>
        </p:nvSpPr>
        <p:spPr>
          <a:xfrm>
            <a:off x="457200" y="2542032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5" name="Score dot 3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25420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926080" y="2542032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correct, with gaps but still usable</a:t>
            </a:r>
            <a:endParaRPr lang="en-US" sz="1400" dirty="0"/>
          </a:p>
        </p:txBody>
      </p:sp>
      <p:sp>
        <p:nvSpPr>
          <p:cNvPr id="19" name="Rubric row 2"/>
          <p:cNvSpPr/>
          <p:nvPr/>
        </p:nvSpPr>
        <p:spPr>
          <a:xfrm>
            <a:off x="457200" y="3218688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0" name="Score dot 2"/>
          <p:cNvSpPr/>
          <p:nvPr/>
        </p:nvSpPr>
        <p:spPr>
          <a:xfrm>
            <a:off x="594360" y="3282696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21868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926080" y="321868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errors or missed key requirements</a:t>
            </a:r>
            <a:endParaRPr lang="en-US" sz="1400" dirty="0"/>
          </a:p>
        </p:txBody>
      </p:sp>
      <p:sp>
        <p:nvSpPr>
          <p:cNvPr id="24" name="Rubric row 1"/>
          <p:cNvSpPr/>
          <p:nvPr/>
        </p:nvSpPr>
        <p:spPr>
          <a:xfrm>
            <a:off x="457200" y="3895344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5" name="Score dot 1"/>
          <p:cNvSpPr/>
          <p:nvPr/>
        </p:nvSpPr>
        <p:spPr>
          <a:xfrm>
            <a:off x="594360" y="395935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3895344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2926080" y="389534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Incorrect, hallucinated, unsafe or unusable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 leads overall at 4.43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inner card"/>
          <p:cNvSpPr/>
          <p:nvPr/>
        </p:nvSpPr>
        <p:spPr>
          <a:xfrm>
            <a:off x="603504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6" name="Trophy circle"/>
          <p:cNvSpPr/>
          <p:nvPr/>
        </p:nvSpPr>
        <p:spPr>
          <a:xfrm>
            <a:off x="7040880" y="1463040"/>
            <a:ext cx="640080" cy="64008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7" name="Image 0" descr="Troph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16230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72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WINNER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17220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61722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Gemma-4-31B-it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4 of 7 categories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 – replace with your own evaluation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heatmap: who wins where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Lang.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F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Gemma-4-31B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Gemma-4-26B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Qwen-2.5-72B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4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</a:tr>
            </a:tbl>
          </a:graphicData>
        </a:graphic>
      </p:graphicFrame>
      <p:sp>
        <p:nvSpPr>
          <p:cNvPr id="5" name="Legend 4.5+"/>
          <p:cNvSpPr/>
          <p:nvPr/>
        </p:nvSpPr>
        <p:spPr>
          <a:xfrm>
            <a:off x="3108960" y="429768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401568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4.5+</a:t>
            </a:r>
            <a:endParaRPr lang="en-US" sz="1200" dirty="0"/>
          </a:p>
        </p:txBody>
      </p:sp>
      <p:sp>
        <p:nvSpPr>
          <p:cNvPr id="7" name="Legend 4.2+"/>
          <p:cNvSpPr/>
          <p:nvPr/>
        </p:nvSpPr>
        <p:spPr>
          <a:xfrm>
            <a:off x="4114800" y="429768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407408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4.2+</a:t>
            </a:r>
            <a:endParaRPr lang="en-US" sz="1200" dirty="0"/>
          </a:p>
        </p:txBody>
      </p:sp>
      <p:sp>
        <p:nvSpPr>
          <p:cNvPr id="9" name="Legend 3.9+"/>
          <p:cNvSpPr/>
          <p:nvPr/>
        </p:nvSpPr>
        <p:spPr>
          <a:xfrm>
            <a:off x="5120640" y="429768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13248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3.9+</a:t>
            </a:r>
            <a:endParaRPr lang="en-US" sz="1200" dirty="0"/>
          </a:p>
        </p:txBody>
      </p:sp>
      <p:sp>
        <p:nvSpPr>
          <p:cNvPr id="11" name="Legend 3.6+"/>
          <p:cNvSpPr/>
          <p:nvPr/>
        </p:nvSpPr>
        <p:spPr>
          <a:xfrm>
            <a:off x="6126480" y="429768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19088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3.6+</a:t>
            </a:r>
            <a:endParaRPr lang="en-US" sz="1200" dirty="0"/>
          </a:p>
        </p:txBody>
      </p:sp>
      <p:sp>
        <p:nvSpPr>
          <p:cNvPr id="13" name="Legend &lt;3.6"/>
          <p:cNvSpPr/>
          <p:nvPr/>
        </p:nvSpPr>
        <p:spPr>
          <a:xfrm>
            <a:off x="7132320" y="429768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24928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&lt;3.6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legend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 – replace with your own evaluation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has its own shape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937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 1"/>
          <p:cNvSpPr/>
          <p:nvPr/>
        </p:nvSpPr>
        <p:spPr>
          <a:xfrm>
            <a:off x="5394960" y="123444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6" name="Insight dot 1"/>
          <p:cNvSpPr/>
          <p:nvPr/>
        </p:nvSpPr>
        <p:spPr>
          <a:xfrm>
            <a:off x="5532120" y="1371600"/>
            <a:ext cx="182880" cy="18288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06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532120" y="16184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balanced: no weak axis, strongest on safety and instructions</a:t>
            </a:r>
            <a:endParaRPr lang="en-US" sz="1300" dirty="0"/>
          </a:p>
        </p:txBody>
      </p:sp>
      <p:sp>
        <p:nvSpPr>
          <p:cNvPr id="9" name="Insight card 2"/>
          <p:cNvSpPr/>
          <p:nvPr/>
        </p:nvSpPr>
        <p:spPr>
          <a:xfrm>
            <a:off x="5394960" y="233172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0" name="Insight dot 2"/>
          <p:cNvSpPr/>
          <p:nvPr/>
        </p:nvSpPr>
        <p:spPr>
          <a:xfrm>
            <a:off x="5532120" y="2468880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8064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27157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on coding and factual accuracy, dips on Indian languages</a:t>
            </a:r>
            <a:endParaRPr lang="en-US" sz="1300" dirty="0"/>
          </a:p>
        </p:txBody>
      </p:sp>
      <p:sp>
        <p:nvSpPr>
          <p:cNvPr id="13" name="Insight card 3"/>
          <p:cNvSpPr/>
          <p:nvPr/>
        </p:nvSpPr>
        <p:spPr>
          <a:xfrm>
            <a:off x="5394960" y="342900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4" name="Insight dot 3"/>
          <p:cNvSpPr/>
          <p:nvPr/>
        </p:nvSpPr>
        <p:spPr>
          <a:xfrm>
            <a:off x="5532120" y="3566160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064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OSS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532120" y="38130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reasoning score, but weakest on Indian languages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 – replace with your own evaluation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champions</a:t>
            </a:r>
            <a:endParaRPr lang="en-US" sz="3000" dirty="0"/>
          </a:p>
        </p:txBody>
      </p:sp>
      <p:sp>
        <p:nvSpPr>
          <p:cNvPr id="4" name="Champion card 1"/>
          <p:cNvSpPr/>
          <p:nvPr/>
        </p:nvSpPr>
        <p:spPr>
          <a:xfrm>
            <a:off x="45720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Reasoning &amp; Maths circle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Reasoning &amp; Mat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3441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Maths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OSS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/ 5</a:t>
            </a:r>
            <a:endParaRPr lang="en-US" sz="1600" dirty="0"/>
          </a:p>
        </p:txBody>
      </p:sp>
      <p:sp>
        <p:nvSpPr>
          <p:cNvPr id="10" name="Champion card 2"/>
          <p:cNvSpPr/>
          <p:nvPr/>
        </p:nvSpPr>
        <p:spPr>
          <a:xfrm>
            <a:off x="256032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1" name="Factual Accuracy circle"/>
          <p:cNvSpPr/>
          <p:nvPr/>
        </p:nvSpPr>
        <p:spPr>
          <a:xfrm>
            <a:off x="2697480" y="1371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2" name="Image 1" descr="Factual Accura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4859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46120" y="13441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6974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697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/ 5</a:t>
            </a:r>
            <a:endParaRPr lang="en-US" sz="1600" dirty="0"/>
          </a:p>
        </p:txBody>
      </p:sp>
      <p:sp>
        <p:nvSpPr>
          <p:cNvPr id="16" name="Champion card 3"/>
          <p:cNvSpPr/>
          <p:nvPr/>
        </p:nvSpPr>
        <p:spPr>
          <a:xfrm>
            <a:off x="466344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7" name="Instruction Following circle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2" descr="Instruction Follow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48590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49240" y="13441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8006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8006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/ 5</a:t>
            </a:r>
            <a:endParaRPr lang="en-US" sz="1600" dirty="0"/>
          </a:p>
        </p:txBody>
      </p:sp>
      <p:sp>
        <p:nvSpPr>
          <p:cNvPr id="22" name="Champion card 4"/>
          <p:cNvSpPr/>
          <p:nvPr/>
        </p:nvSpPr>
        <p:spPr>
          <a:xfrm>
            <a:off x="676656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3" name="Coding circle"/>
          <p:cNvSpPr/>
          <p:nvPr/>
        </p:nvSpPr>
        <p:spPr>
          <a:xfrm>
            <a:off x="6903720" y="1371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4" name="Image 3" descr="Co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48590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52360" y="13441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90372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9037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</a:t>
            </a:r>
            <a:endParaRPr lang="en-US" sz="1600" dirty="0"/>
          </a:p>
        </p:txBody>
      </p:sp>
      <p:sp>
        <p:nvSpPr>
          <p:cNvPr id="28" name="Champion card 5"/>
          <p:cNvSpPr/>
          <p:nvPr/>
        </p:nvSpPr>
        <p:spPr>
          <a:xfrm>
            <a:off x="457200" y="29260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9" name="Indian Languages circl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0" name="Image 4" descr="Indian Languag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43000" y="30358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9436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9436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/ 5</a:t>
            </a:r>
            <a:endParaRPr lang="en-US" sz="1600" dirty="0"/>
          </a:p>
        </p:txBody>
      </p:sp>
      <p:sp>
        <p:nvSpPr>
          <p:cNvPr id="34" name="Champion card 6"/>
          <p:cNvSpPr/>
          <p:nvPr/>
        </p:nvSpPr>
        <p:spPr>
          <a:xfrm>
            <a:off x="2560320" y="29260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35" name="Summarisation circle"/>
          <p:cNvSpPr/>
          <p:nvPr/>
        </p:nvSpPr>
        <p:spPr>
          <a:xfrm>
            <a:off x="2697480" y="3063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6" name="Image 5" descr="Summaris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780" y="317754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246120" y="30358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269748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269748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</a:t>
            </a:r>
            <a:endParaRPr lang="en-US" sz="1600" dirty="0"/>
          </a:p>
        </p:txBody>
      </p:sp>
      <p:sp>
        <p:nvSpPr>
          <p:cNvPr id="40" name="Champion card 7"/>
          <p:cNvSpPr/>
          <p:nvPr/>
        </p:nvSpPr>
        <p:spPr>
          <a:xfrm>
            <a:off x="4663440" y="29260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41" name="Safety &amp; Robustness circle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2" name="Image 6" descr="Safety &amp; Robustnes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177540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349240" y="30358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Robustness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48006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480060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</a:t>
            </a:r>
            <a:endParaRPr lang="en-US" sz="1600" dirty="0"/>
          </a:p>
        </p:txBody>
      </p:sp>
      <p:sp>
        <p:nvSpPr>
          <p:cNvPr id="46" name="Champion card 8"/>
          <p:cNvSpPr/>
          <p:nvPr/>
        </p:nvSpPr>
        <p:spPr>
          <a:xfrm>
            <a:off x="6766560" y="29260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47" name="Overall average circle"/>
          <p:cNvSpPr/>
          <p:nvPr/>
        </p:nvSpPr>
        <p:spPr>
          <a:xfrm>
            <a:off x="6903720" y="3063240"/>
            <a:ext cx="457200" cy="45720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48" name="Image 7" descr="Overall avera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3177540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452360" y="30358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690372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600" dirty="0"/>
          </a:p>
        </p:txBody>
      </p:sp>
      <p:sp>
        <p:nvSpPr>
          <p:cNvPr id="51" name="Text 40"/>
          <p:cNvSpPr txBox="1"/>
          <p:nvPr/>
        </p:nvSpPr>
        <p:spPr>
          <a:xfrm>
            <a:off x="690372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 / 5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 – replace with your own evaluation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for which job?</a:t>
            </a:r>
            <a:endParaRPr lang="en-US" sz="3000" dirty="0"/>
          </a:p>
        </p:txBody>
      </p:sp>
      <p:sp>
        <p:nvSpPr>
          <p:cNvPr id="4" name="Rec row 1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Best all-rounder circle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Best all-roun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36702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1887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all-rounder</a:t>
            </a:r>
            <a:endParaRPr lang="en-US" sz="1500" dirty="0"/>
          </a:p>
        </p:txBody>
      </p:sp>
      <p:sp>
        <p:nvSpPr>
          <p:cNvPr id="8" name="Rec pill 1"/>
          <p:cNvSpPr/>
          <p:nvPr/>
        </p:nvSpPr>
        <p:spPr>
          <a:xfrm>
            <a:off x="3657600" y="129844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577840" y="1188720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average 4.43, wins 4 of 7 categories</a:t>
            </a:r>
            <a:endParaRPr lang="en-US" sz="1300" dirty="0"/>
          </a:p>
        </p:txBody>
      </p:sp>
      <p:sp>
        <p:nvSpPr>
          <p:cNvPr id="11" name="Rec row 2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2" name="Best for coding circle"/>
          <p:cNvSpPr/>
          <p:nvPr/>
        </p:nvSpPr>
        <p:spPr>
          <a:xfrm>
            <a:off x="594360" y="1929384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1" descr="Best for co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043684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18653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coding</a:t>
            </a:r>
            <a:endParaRPr lang="en-US" sz="1500" dirty="0"/>
          </a:p>
        </p:txBody>
      </p:sp>
      <p:sp>
        <p:nvSpPr>
          <p:cNvPr id="15" name="Rec pill 2"/>
          <p:cNvSpPr/>
          <p:nvPr/>
        </p:nvSpPr>
        <p:spPr>
          <a:xfrm>
            <a:off x="3657600" y="19751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65760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577840" y="1865376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coding score: 4.5</a:t>
            </a:r>
            <a:endParaRPr lang="en-US" sz="1300" dirty="0"/>
          </a:p>
        </p:txBody>
      </p:sp>
      <p:sp>
        <p:nvSpPr>
          <p:cNvPr id="18" name="Rec row 3"/>
          <p:cNvSpPr/>
          <p:nvPr/>
        </p:nvSpPr>
        <p:spPr>
          <a:xfrm>
            <a:off x="457200" y="2542032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9" name="Best for Indian languages circle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2" descr="Best for Indian languag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7203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5420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Indian languages</a:t>
            </a:r>
            <a:endParaRPr lang="en-US" sz="1500" dirty="0"/>
          </a:p>
        </p:txBody>
      </p:sp>
      <p:sp>
        <p:nvSpPr>
          <p:cNvPr id="22" name="Rec pill 3"/>
          <p:cNvSpPr/>
          <p:nvPr/>
        </p:nvSpPr>
        <p:spPr>
          <a:xfrm>
            <a:off x="3657600" y="2651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6576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577840" y="254203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Indian-language score: 4.4</a:t>
            </a:r>
            <a:endParaRPr lang="en-US" sz="1300" dirty="0"/>
          </a:p>
        </p:txBody>
      </p:sp>
      <p:sp>
        <p:nvSpPr>
          <p:cNvPr id="25" name="Rec row 4"/>
          <p:cNvSpPr/>
          <p:nvPr/>
        </p:nvSpPr>
        <p:spPr>
          <a:xfrm>
            <a:off x="457200" y="3218688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26" name="Best efficiency trade-off circle"/>
          <p:cNvSpPr/>
          <p:nvPr/>
        </p:nvSpPr>
        <p:spPr>
          <a:xfrm>
            <a:off x="594360" y="3282696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7" name="Image 3" descr="Best efficiency trade-of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339699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34440" y="32186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efficiency trade-off</a:t>
            </a:r>
            <a:endParaRPr lang="en-US" sz="1500" dirty="0"/>
          </a:p>
        </p:txBody>
      </p:sp>
      <p:sp>
        <p:nvSpPr>
          <p:cNvPr id="29" name="Rec pill 4"/>
          <p:cNvSpPr/>
          <p:nvPr/>
        </p:nvSpPr>
        <p:spPr>
          <a:xfrm>
            <a:off x="3657600" y="3328416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3657600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Gemma-4-26B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5577840" y="3218688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~4B active params, still avg 4.09</a:t>
            </a:r>
            <a:endParaRPr lang="en-US" sz="1300" dirty="0"/>
          </a:p>
        </p:txBody>
      </p:sp>
      <p:sp>
        <p:nvSpPr>
          <p:cNvPr id="32" name="Rec row 5"/>
          <p:cNvSpPr/>
          <p:nvPr/>
        </p:nvSpPr>
        <p:spPr>
          <a:xfrm>
            <a:off x="457200" y="3895344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33" name="Safest circle"/>
          <p:cNvSpPr/>
          <p:nvPr/>
        </p:nvSpPr>
        <p:spPr>
          <a:xfrm>
            <a:off x="594360" y="3959352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4" name="Image 4" descr="Safe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073652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34440" y="389534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</a:t>
            </a:r>
            <a:endParaRPr lang="en-US" sz="1500" dirty="0"/>
          </a:p>
        </p:txBody>
      </p:sp>
      <p:sp>
        <p:nvSpPr>
          <p:cNvPr id="36" name="Rec pill 5"/>
          <p:cNvSpPr/>
          <p:nvPr/>
        </p:nvSpPr>
        <p:spPr>
          <a:xfrm>
            <a:off x="3657600" y="400507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657600" y="4005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5577840" y="3895344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safety score: 4.5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 – replace with your own evaluation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what’s next</a:t>
            </a:r>
            <a:endParaRPr lang="en-US" sz="3000" dirty="0"/>
          </a:p>
        </p:txBody>
      </p:sp>
      <p:sp>
        <p:nvSpPr>
          <p:cNvPr id="4" name="Panel Limitations"/>
          <p:cNvSpPr/>
          <p:nvPr/>
        </p:nvSpPr>
        <p:spPr>
          <a:xfrm>
            <a:off x="457200" y="1188720"/>
            <a:ext cx="3977640" cy="2240280"/>
          </a:xfrm>
          <a:prstGeom prst="roundRect">
            <a:avLst>
              <a:gd name="adj" fmla="val 4898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5" name="Limitations 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6" name="Image 0" descr="Limit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5161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0116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 prompts, so small sample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is partly subjective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 per prompt</a:t>
            </a:r>
            <a:endParaRPr lang="en-US" sz="1600" dirty="0"/>
          </a:p>
        </p:txBody>
      </p:sp>
      <p:sp>
        <p:nvSpPr>
          <p:cNvPr id="9" name="Panel Next steps"/>
          <p:cNvSpPr/>
          <p:nvPr/>
        </p:nvSpPr>
        <p:spPr>
          <a:xfrm>
            <a:off x="4709160" y="1188720"/>
            <a:ext cx="3977640" cy="2240280"/>
          </a:xfrm>
          <a:prstGeom prst="roundRect">
            <a:avLst>
              <a:gd name="adj" fmla="val 4898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0" name="Next steps circle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1" descr="Next ste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45161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983480" y="20116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prompts and more Indian languages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plus human checks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latency and cost metrics</a:t>
            </a:r>
            <a:endParaRPr lang="en-US" sz="1600" dirty="0"/>
          </a:p>
        </p:txBody>
      </p:sp>
      <p:sp>
        <p:nvSpPr>
          <p:cNvPr id="14" name="Takeaway banner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0E3A5C"/>
          </a:solidFill>
          <a:ln w="12700">
            <a:solidFill>
              <a:srgbClr val="0E3A5C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36576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Gemma-4-31B is the best all-rounder. Choose Qwen for code and GPT OSS for reasoning.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3657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Q&amp;A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 – replace with your own evaluation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Showdown">
  <a:themeElements>
    <a:clrScheme name="LLM Showdown">
      <a:dk1>
        <a:srgbClr val="0B1437"/>
      </a:dk1>
      <a:lt1>
        <a:srgbClr val="FFFFFF"/>
      </a:lt1>
      <a:dk2>
        <a:srgbClr val="16224F"/>
      </a:dk2>
      <a:lt2>
        <a:srgbClr val="A9B4D6"/>
      </a:lt2>
      <a:accent1>
        <a:srgbClr val="4F8CFF"/>
      </a:accent1>
      <a:accent2>
        <a:srgbClr val="2DD4BF"/>
      </a:accent2>
      <a:accent3>
        <a:srgbClr val="FB923C"/>
      </a:accent3>
      <a:accent4>
        <a:srgbClr val="A78BFA"/>
      </a:accent4>
      <a:accent5>
        <a:srgbClr val="22D3EE"/>
      </a:accent5>
      <a:accent6>
        <a:srgbClr val="FACC15"/>
      </a:accent6>
      <a:hlink>
        <a:srgbClr val="22D3EE"/>
      </a:hlink>
      <a:folHlink>
        <a:srgbClr val="A78BFA"/>
      </a:folHlink>
    </a:clrScheme>
    <a:fontScheme name="LLM Showdow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LLM Showdown</dc:title>
  <dc:subject>PptxGenJS Presentation</dc:subject>
  <dc:creator>PptxGenJS</dc:creator>
  <cp:lastModifiedBy>PptxGenJS</cp:lastModifiedBy>
  <cp:revision>1</cp:revision>
  <dcterms:created xsi:type="dcterms:W3CDTF">2026-10-24T10:24:50Z</dcterms:created>
  <dcterms:modified xsi:type="dcterms:W3CDTF">2026-10-24T10:24:50Z</dcterms:modified>
</cp:coreProperties>
</file>